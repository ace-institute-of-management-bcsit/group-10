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55CC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72369" y="1418927"/>
            <a:ext cx="6599262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Task Planner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272369" y="2086868"/>
            <a:ext cx="6599262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Productivity Tool for Breaking Big Tasks into Manageable Steps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72369" y="2778026"/>
            <a:ext cx="659926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72369" y="3081635"/>
            <a:ext cx="65992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Sanjit Yadav • Ashwin Lamichane • Kailash Devkota • Dipu Yadav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72369" y="3738860"/>
            <a:ext cx="659926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4 Project Presentation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72369" y="4006751"/>
            <a:ext cx="659926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Supervision of: [Supervisor Name]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3353321" cy="49470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637705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9" y="1730573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1701105"/>
            <a:ext cx="2201447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Motivation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71500" y="2173486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69" y="2266355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1563" y="2236887"/>
            <a:ext cx="1712128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71500" y="2709267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84" y="2802136"/>
            <a:ext cx="150019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1563" y="2772668"/>
            <a:ext cx="1556445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571500" y="3245048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9" y="3337917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71563" y="3308449"/>
            <a:ext cx="161192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571500" y="3780830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873698"/>
            <a:ext cx="214313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71563" y="3844230"/>
            <a:ext cx="114537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4714875" y="1637705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7744" y="1730573"/>
            <a:ext cx="171450" cy="1714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14938" y="1701105"/>
            <a:ext cx="167864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4714875" y="2173486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459" y="2266355"/>
            <a:ext cx="150019" cy="17145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4938" y="2236887"/>
            <a:ext cx="202330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Chart &amp; Timeline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4714875" y="2709267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7744" y="2802136"/>
            <a:ext cx="171450" cy="17145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14938" y="2772668"/>
            <a:ext cx="97835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0" name="Shape 19"/>
          <p:cNvSpPr/>
          <p:nvPr/>
        </p:nvSpPr>
        <p:spPr>
          <a:xfrm>
            <a:off x="4714875" y="3245048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3337917"/>
            <a:ext cx="214313" cy="17145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214938" y="3308449"/>
            <a:ext cx="1923287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1500" dirty="0"/>
          </a:p>
        </p:txBody>
      </p:sp>
      <p:sp>
        <p:nvSpPr>
          <p:cNvPr id="33" name="Shape 21"/>
          <p:cNvSpPr/>
          <p:nvPr/>
        </p:nvSpPr>
        <p:spPr>
          <a:xfrm>
            <a:off x="4714875" y="3780830"/>
            <a:ext cx="357188" cy="357188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7028" y="3873698"/>
            <a:ext cx="192881" cy="17145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214938" y="3844230"/>
            <a:ext cx="98957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6" name="Text 23"/>
          <p:cNvSpPr/>
          <p:nvPr/>
        </p:nvSpPr>
        <p:spPr>
          <a:xfrm>
            <a:off x="8786729" y="4854178"/>
            <a:ext cx="71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Motivation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94817"/>
            <a:ext cx="171450" cy="2071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7231" y="1394817"/>
            <a:ext cx="372189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Productivity Gap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07231" y="1693766"/>
            <a:ext cx="350668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 caused by large, complex projects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07231" y="1933780"/>
            <a:ext cx="35266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to procrastination and decreased output.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364888"/>
            <a:ext cx="128588" cy="2071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4369" y="2364888"/>
            <a:ext cx="37647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64369" y="2663837"/>
            <a:ext cx="327253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Task Planner enforces a "micro-step"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64369" y="2903851"/>
            <a:ext cx="316345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philosophy to simplify complex workflows.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4959"/>
            <a:ext cx="171450" cy="2071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7231" y="3334959"/>
            <a:ext cx="372189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07231" y="3633908"/>
            <a:ext cx="304968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cognitive load by transforming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707231" y="3873922"/>
            <a:ext cx="322138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daunting goals into achievable, low-friction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07231" y="4113935"/>
            <a:ext cx="59086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714875" y="1394817"/>
            <a:ext cx="4000500" cy="3150226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47" y="2091249"/>
            <a:ext cx="571500" cy="5715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11897" y="2734187"/>
            <a:ext cx="12064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DAUNTING GOAL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828" y="3112805"/>
            <a:ext cx="178594" cy="285750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4328" y="3469993"/>
            <a:ext cx="250031" cy="28575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1516" y="3469993"/>
            <a:ext cx="250031" cy="285750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8703" y="3469993"/>
            <a:ext cx="250031" cy="285750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5891" y="3469993"/>
            <a:ext cx="250031" cy="28575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054328" y="3827180"/>
            <a:ext cx="13215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STEPS</a:t>
            </a:r>
            <a:endParaRPr lang="en-US" sz="1000" dirty="0"/>
          </a:p>
        </p:txBody>
      </p:sp>
      <p:sp>
        <p:nvSpPr>
          <p:cNvPr id="28" name="Text 16"/>
          <p:cNvSpPr/>
          <p:nvPr/>
        </p:nvSpPr>
        <p:spPr>
          <a:xfrm>
            <a:off x="8786729" y="4854178"/>
            <a:ext cx="71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537692"/>
            <a:ext cx="571500" cy="57150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80567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1594" y="1537692"/>
            <a:ext cx="303609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Paralysis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21594" y="1839516"/>
            <a:ext cx="30360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feel overwhelmed by large tasks, leading to indecision and significant delays in starting.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786313" y="1537692"/>
            <a:ext cx="571500" cy="57150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680567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36406" y="1537692"/>
            <a:ext cx="303609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Granularity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536406" y="1839516"/>
            <a:ext cx="30360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focus on high-level deadlines rather than the small, actionable steps required.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71500" y="2928156"/>
            <a:ext cx="571500" cy="57150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3071031"/>
            <a:ext cx="214313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1594" y="2928156"/>
            <a:ext cx="303609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Errors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321594" y="3229980"/>
            <a:ext cx="30360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time estimation for large projects results in missed deadlines and inefficient scheduling.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786313" y="2928156"/>
            <a:ext cx="571500" cy="57150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328" y="3071031"/>
            <a:ext cx="321469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36406" y="2928156"/>
            <a:ext cx="303609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Fatigue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536406" y="3229980"/>
            <a:ext cx="30360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unstructured "to-do" lists increases cognitive load, stress, and decreases overall focus.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786729" y="4854178"/>
            <a:ext cx="71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537692"/>
            <a:ext cx="428625" cy="428625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651992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1636812"/>
            <a:ext cx="172220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GTD Methodology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8625" y="2073473"/>
            <a:ext cx="4036219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Allen's "Getting Things Done" emphasizes capturing and breaking down projects into "next actions" to clear mental space.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79156" y="1537692"/>
            <a:ext cx="428625" cy="428625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456" y="1651992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0656" y="1636812"/>
            <a:ext cx="1500578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Zeigarnik Effect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679156" y="2073473"/>
            <a:ext cx="4036219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tension from unfinished tasks is relieved by micro-tasks, which provide frequent points of cognitive closure.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28625" y="3137892"/>
            <a:ext cx="428625" cy="428625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252192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0125" y="3237012"/>
            <a:ext cx="1344811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Habits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28625" y="3673673"/>
            <a:ext cx="4036219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Clear's framework highlights how small, incremental changes and low-friction tasks lead to significant long-term results.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679156" y="3137892"/>
            <a:ext cx="428625" cy="428625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456" y="3252192"/>
            <a:ext cx="200025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0656" y="3237012"/>
            <a:ext cx="135212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679156" y="3673673"/>
            <a:ext cx="403621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Trello and Todoist reveals a gap in automated "breakdown" assistance for complex, multi-stage projects.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786729" y="4854178"/>
            <a:ext cx="71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2214563" y="1680567"/>
            <a:ext cx="571500" cy="571500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578" y="1823442"/>
            <a:ext cx="321469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7888" y="2394942"/>
            <a:ext cx="254484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Decomposition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71500" y="2696766"/>
            <a:ext cx="3857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interface that encourages users to split complex tasks until they reach a "micro" level.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357938" y="1680567"/>
            <a:ext cx="571500" cy="571500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813" y="1823442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72795" y="2394942"/>
            <a:ext cx="214178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Visualization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714875" y="2696766"/>
            <a:ext cx="3857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intuitive dashboards to visualize completion percentages and dependencies of sub-tasks.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214563" y="3525441"/>
            <a:ext cx="571500" cy="571500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297" y="3668316"/>
            <a:ext cx="250031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29653" y="4239816"/>
            <a:ext cx="154132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Estimation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71500" y="4541639"/>
            <a:ext cx="3857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system to track and predict time requirements for granular steps to improve accuracy.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357938" y="3525441"/>
            <a:ext cx="571500" cy="571500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094" y="3668316"/>
            <a:ext cx="357188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793330" y="4239816"/>
            <a:ext cx="1700715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Engagement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714875" y="4541639"/>
            <a:ext cx="3857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low-friction UI/UX to ensure the tool is easier to use than the manual task management process.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8786729" y="4854178"/>
            <a:ext cx="71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381116" y="1680567"/>
            <a:ext cx="714375" cy="714375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569" y="1877020"/>
            <a:ext cx="321469" cy="3214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8625" y="2573536"/>
            <a:ext cx="261935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Process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71500" y="2946797"/>
            <a:ext cx="24764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development cycles (Sprints)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71500" y="3253978"/>
            <a:ext cx="24764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feedback and refinement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71500" y="3561159"/>
            <a:ext cx="24764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 of core features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71500" y="3868341"/>
            <a:ext cx="24764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team stand-ups for coordination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28625" y="2946797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8625" y="3253978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28625" y="3561159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8625" y="3868341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214785" y="1680567"/>
            <a:ext cx="714375" cy="714375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054" y="1877020"/>
            <a:ext cx="401836" cy="3214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62294" y="2573536"/>
            <a:ext cx="261938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User-Centric Design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405169" y="2946797"/>
            <a:ext cx="24765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gathering via student surveys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405169" y="3454003"/>
            <a:ext cx="24765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wireframing and prototyping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405169" y="3761184"/>
            <a:ext cx="24765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 with target audience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405169" y="4068366"/>
            <a:ext cx="24765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low-friction interaction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262294" y="2946797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262294" y="3454003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262294" y="3761184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262294" y="4068366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048481" y="1680567"/>
            <a:ext cx="714375" cy="714375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396" y="1877020"/>
            <a:ext cx="362545" cy="32146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095991" y="2573536"/>
            <a:ext cx="261935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238866" y="2946797"/>
            <a:ext cx="24764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frontend component structure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238866" y="3253978"/>
            <a:ext cx="24764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for backend communication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238866" y="3761184"/>
            <a:ext cx="24764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for task hierarchy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238866" y="4068366"/>
            <a:ext cx="24764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deployment strategy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8786729" y="4854178"/>
            <a:ext cx="71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095991" y="2946797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095991" y="3253978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095991" y="3761184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095991" y="4068366"/>
            <a:ext cx="500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52873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537692"/>
            <a:ext cx="194164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925241"/>
            <a:ext cx="142875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2938" y="1925241"/>
            <a:ext cx="26999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stack: React, Node.js, PostgreSQL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168128"/>
            <a:ext cx="142875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2938" y="2168128"/>
            <a:ext cx="25809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 for task hierarchies</a:t>
            </a:r>
            <a:endParaRPr lang="en-US" sz="10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411016"/>
            <a:ext cx="142875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2938" y="2411016"/>
            <a:ext cx="245147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of extensive documentation</a:t>
            </a:r>
            <a:endParaRPr lang="en-US" sz="10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156" y="1552873"/>
            <a:ext cx="250031" cy="2000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036344" y="1537692"/>
            <a:ext cx="214530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Feasibility</a:t>
            </a:r>
            <a:endParaRPr lang="en-US" sz="14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1925241"/>
            <a:ext cx="142875" cy="1714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893469" y="1925241"/>
            <a:ext cx="297791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common student productivity issues</a:t>
            </a:r>
            <a:endParaRPr lang="en-US" sz="10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156" y="2168128"/>
            <a:ext cx="142875" cy="1714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893469" y="2168128"/>
            <a:ext cx="219977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learning curve for target users</a:t>
            </a:r>
            <a:endParaRPr lang="en-US" sz="10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9156" y="2411016"/>
            <a:ext cx="142875" cy="17145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893469" y="2411016"/>
            <a:ext cx="300218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potential for adoption in academic settings</a:t>
            </a:r>
            <a:endParaRPr lang="en-US" sz="105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" y="3026271"/>
            <a:ext cx="225028" cy="200025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60809" y="3011091"/>
            <a:ext cx="198970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4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25" y="3398639"/>
            <a:ext cx="142875" cy="17145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42938" y="3398639"/>
            <a:ext cx="24220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costs using open-source tools</a:t>
            </a:r>
            <a:endParaRPr lang="en-US" sz="105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" y="3641527"/>
            <a:ext cx="142875" cy="17145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42938" y="3641527"/>
            <a:ext cx="250142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cloud hosting (Vercel, Render)</a:t>
            </a:r>
            <a:endParaRPr lang="en-US" sz="105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625" y="3884414"/>
            <a:ext cx="142875" cy="17145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642938" y="3884414"/>
            <a:ext cx="243802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specialized hardware requirements</a:t>
            </a:r>
            <a:endParaRPr lang="en-US" sz="1050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9156" y="3026271"/>
            <a:ext cx="200025" cy="200025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4986338" y="3011091"/>
            <a:ext cx="192309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Feasibility</a:t>
            </a:r>
            <a:endParaRPr lang="en-US" sz="1400" dirty="0"/>
          </a:p>
        </p:txBody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9156" y="3398639"/>
            <a:ext cx="142875" cy="171450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4893469" y="3398639"/>
            <a:ext cx="239017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4-month timeline aligns with semester</a:t>
            </a:r>
            <a:endParaRPr lang="en-US" sz="1050" dirty="0"/>
          </a:p>
        </p:txBody>
      </p:sp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79156" y="3641527"/>
            <a:ext cx="142875" cy="171450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4893469" y="3641527"/>
            <a:ext cx="222865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sprints allow for MVP delivery</a:t>
            </a:r>
            <a:endParaRPr lang="en-US" sz="105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79156" y="3884414"/>
            <a:ext cx="142875" cy="171450"/>
          </a:xfrm>
          <a:prstGeom prst="rect">
            <a:avLst/>
          </a:prstGeom>
        </p:spPr>
      </p:pic>
      <p:sp>
        <p:nvSpPr>
          <p:cNvPr id="37" name="Text 18"/>
          <p:cNvSpPr/>
          <p:nvPr/>
        </p:nvSpPr>
        <p:spPr>
          <a:xfrm>
            <a:off x="4893469" y="3884414"/>
            <a:ext cx="294409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 included for testing and documentation</a:t>
            </a:r>
            <a:endParaRPr lang="en-US" sz="1050" dirty="0"/>
          </a:p>
        </p:txBody>
      </p:sp>
      <p:sp>
        <p:nvSpPr>
          <p:cNvPr id="38" name="Text 19"/>
          <p:cNvSpPr/>
          <p:nvPr/>
        </p:nvSpPr>
        <p:spPr>
          <a:xfrm>
            <a:off x="8786729" y="4854178"/>
            <a:ext cx="71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Chart &amp; Timeline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32197" y="1684139"/>
            <a:ext cx="2483876" cy="417909"/>
          </a:xfrm>
          <a:prstGeom prst="rect">
            <a:avLst/>
          </a:prstGeom>
          <a:solidFill>
            <a:srgbClr val="003399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2197" y="1684139"/>
            <a:ext cx="2483876" cy="4179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Phase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16073" y="1684139"/>
            <a:ext cx="1448926" cy="417909"/>
          </a:xfrm>
          <a:prstGeom prst="rect">
            <a:avLst/>
          </a:prstGeom>
          <a:solidFill>
            <a:srgbClr val="003399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16073" y="1684139"/>
            <a:ext cx="1448926" cy="4179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4999" y="1684139"/>
            <a:ext cx="1448926" cy="417909"/>
          </a:xfrm>
          <a:prstGeom prst="rect">
            <a:avLst/>
          </a:prstGeom>
          <a:solidFill>
            <a:srgbClr val="003399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64999" y="1684139"/>
            <a:ext cx="1448926" cy="4179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13924" y="1684139"/>
            <a:ext cx="1448926" cy="417909"/>
          </a:xfrm>
          <a:prstGeom prst="rect">
            <a:avLst/>
          </a:prstGeom>
          <a:solidFill>
            <a:srgbClr val="003399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13924" y="1684139"/>
            <a:ext cx="1448926" cy="4179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2850" y="1684139"/>
            <a:ext cx="1448953" cy="417909"/>
          </a:xfrm>
          <a:prstGeom prst="rect">
            <a:avLst/>
          </a:prstGeom>
          <a:solidFill>
            <a:srgbClr val="003399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2850" y="1684139"/>
            <a:ext cx="1448953" cy="4179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2197" y="2094905"/>
            <a:ext cx="2483876" cy="571500"/>
          </a:xfrm>
          <a:prstGeom prst="rect">
            <a:avLst/>
          </a:prstGeom>
          <a:solidFill>
            <a:srgbClr val="F0F4F8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2197" y="2094905"/>
            <a:ext cx="2483876" cy="5715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 &amp; UI/UX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2197" y="2666405"/>
            <a:ext cx="2483876" cy="571500"/>
          </a:xfrm>
          <a:prstGeom prst="rect">
            <a:avLst/>
          </a:prstGeom>
          <a:solidFill>
            <a:srgbClr val="F0F4F8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2197" y="2666405"/>
            <a:ext cx="2483876" cy="5715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Database Design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2197" y="3237905"/>
            <a:ext cx="2483876" cy="571500"/>
          </a:xfrm>
          <a:prstGeom prst="rect">
            <a:avLst/>
          </a:prstGeom>
          <a:solidFill>
            <a:srgbClr val="F0F4F8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2197" y="3237905"/>
            <a:ext cx="2483876" cy="5715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Core Integration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2197" y="3809405"/>
            <a:ext cx="2483876" cy="571500"/>
          </a:xfrm>
          <a:prstGeom prst="rect">
            <a:avLst/>
          </a:prstGeom>
          <a:solidFill>
            <a:srgbClr val="F0F4F8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2197" y="3809405"/>
            <a:ext cx="2483876" cy="5715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Documentation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786729" y="4854178"/>
            <a:ext cx="71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982266" y="1680567"/>
            <a:ext cx="642938" cy="642938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59" y="1859161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1368" y="2466380"/>
            <a:ext cx="804732" cy="26253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85750" y="2871788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85750" y="3161109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85750" y="3450431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Icons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161109" y="1680567"/>
            <a:ext cx="642938" cy="642938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63" y="1859161"/>
            <a:ext cx="250031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95448" y="2466380"/>
            <a:ext cx="774260" cy="26253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464594" y="2871788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2464594" y="3161109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2464594" y="3450431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339953" y="1680567"/>
            <a:ext cx="642938" cy="642938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406" y="1859161"/>
            <a:ext cx="250031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48452" y="2466380"/>
            <a:ext cx="825940" cy="26253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643438" y="2871788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643438" y="3161109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643438" y="3450431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518797" y="1680567"/>
            <a:ext cx="642938" cy="642938"/>
          </a:xfrm>
          <a:prstGeom prst="rect">
            <a:avLst/>
          </a:prstGeom>
          <a:solidFill>
            <a:srgbClr val="F0F4F8"/>
          </a:solidFill>
          <a:ln w="18288">
            <a:solidFill>
              <a:srgbClr val="00339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672" y="1859161"/>
            <a:ext cx="357188" cy="2857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08754" y="2466380"/>
            <a:ext cx="1063023" cy="26253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822281" y="2871788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822281" y="3161109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822281" y="3450431"/>
            <a:ext cx="2035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715208" y="4854178"/>
            <a:ext cx="1430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5072" y="1541264"/>
            <a:ext cx="2398151" cy="475059"/>
          </a:xfrm>
          <a:prstGeom prst="rect">
            <a:avLst/>
          </a:prstGeom>
          <a:solidFill>
            <a:srgbClr val="003399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5072" y="1541264"/>
            <a:ext cx="2398151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73223" y="1541264"/>
            <a:ext cx="1807564" cy="475059"/>
          </a:xfrm>
          <a:prstGeom prst="rect">
            <a:avLst/>
          </a:prstGeom>
          <a:solidFill>
            <a:srgbClr val="003399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73223" y="1541264"/>
            <a:ext cx="1807564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77913" y="1541264"/>
            <a:ext cx="1677219" cy="475059"/>
          </a:xfrm>
          <a:prstGeom prst="rect">
            <a:avLst/>
          </a:prstGeom>
          <a:solidFill>
            <a:srgbClr val="003399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7913" y="1541264"/>
            <a:ext cx="1677219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Tools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51867" y="1541264"/>
            <a:ext cx="2117061" cy="475059"/>
          </a:xfrm>
          <a:prstGeom prst="rect">
            <a:avLst/>
          </a:prstGeom>
          <a:solidFill>
            <a:srgbClr val="E8F0FE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51867" y="1541264"/>
            <a:ext cx="2117061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Task Planner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5072" y="2009180"/>
            <a:ext cx="2398151" cy="480417"/>
          </a:xfrm>
          <a:prstGeom prst="rect">
            <a:avLst/>
          </a:prstGeom>
          <a:solidFill>
            <a:srgbClr val="F0F4F8"/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5072" y="2009180"/>
            <a:ext cx="2398151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351" y="2155627"/>
            <a:ext cx="107156" cy="1714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49507" y="2162770"/>
            <a:ext cx="559138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878" y="2155627"/>
            <a:ext cx="107156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88034" y="2162770"/>
            <a:ext cx="559138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50276" y="2009180"/>
            <a:ext cx="2118652" cy="480417"/>
          </a:xfrm>
          <a:prstGeom prst="rect">
            <a:avLst/>
          </a:prstGeom>
          <a:solidFill>
            <a:srgbClr val="E8F0FE"/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80" y="2153841"/>
            <a:ext cx="1714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3530" y="2160984"/>
            <a:ext cx="1309790" cy="17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Guided/Enforced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75072" y="2489597"/>
            <a:ext cx="2398151" cy="480417"/>
          </a:xfrm>
          <a:prstGeom prst="rect">
            <a:avLst/>
          </a:prstGeom>
          <a:solidFill>
            <a:srgbClr val="F0F4F8"/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75072" y="2489597"/>
            <a:ext cx="2398151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Curve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449" y="2636044"/>
            <a:ext cx="1714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95899" y="2643188"/>
            <a:ext cx="331989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993" y="2636044"/>
            <a:ext cx="107156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149" y="2643188"/>
            <a:ext cx="366899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452927" y="2489597"/>
            <a:ext cx="2116001" cy="480417"/>
          </a:xfrm>
          <a:prstGeom prst="rect">
            <a:avLst/>
          </a:prstGeom>
          <a:solidFill>
            <a:srgbClr val="E8F0FE"/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8032" y="2634258"/>
            <a:ext cx="171450" cy="1714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19482" y="2641402"/>
            <a:ext cx="35791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75072" y="2970014"/>
            <a:ext cx="2398151" cy="480417"/>
          </a:xfrm>
          <a:prstGeom prst="rect">
            <a:avLst/>
          </a:prstGeom>
          <a:solidFill>
            <a:srgbClr val="F0F4F8"/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75072" y="2970014"/>
            <a:ext cx="2398151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Mode</a:t>
            </a:r>
            <a:endParaRPr lang="en-US" sz="11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8598" y="3116461"/>
            <a:ext cx="107156" cy="1714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715755" y="3123605"/>
            <a:ext cx="42798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1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3285" y="3116461"/>
            <a:ext cx="171450" cy="1714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334735" y="3123605"/>
            <a:ext cx="73402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6452927" y="2970014"/>
            <a:ext cx="2116001" cy="480417"/>
          </a:xfrm>
          <a:prstGeom prst="rect">
            <a:avLst/>
          </a:prstGeom>
          <a:solidFill>
            <a:srgbClr val="E8F0FE"/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9979" y="3114675"/>
            <a:ext cx="171450" cy="17145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061429" y="3121819"/>
            <a:ext cx="107399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575072" y="3450431"/>
            <a:ext cx="2398151" cy="480417"/>
          </a:xfrm>
          <a:prstGeom prst="rect">
            <a:avLst/>
          </a:prstGeom>
          <a:solidFill>
            <a:srgbClr val="F0F4F8"/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575072" y="3450431"/>
            <a:ext cx="2398151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Load</a:t>
            </a:r>
            <a:endParaRPr lang="en-US" sz="11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9155" y="3596878"/>
            <a:ext cx="107156" cy="17145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3746311" y="3604022"/>
            <a:ext cx="366899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8631" y="3596878"/>
            <a:ext cx="107156" cy="17145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315787" y="3604022"/>
            <a:ext cx="707622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150" dirty="0"/>
          </a:p>
        </p:txBody>
      </p:sp>
      <p:sp>
        <p:nvSpPr>
          <p:cNvPr id="47" name="Shape 33"/>
          <p:cNvSpPr/>
          <p:nvPr/>
        </p:nvSpPr>
        <p:spPr>
          <a:xfrm>
            <a:off x="6452927" y="3450431"/>
            <a:ext cx="2116001" cy="480417"/>
          </a:xfrm>
          <a:prstGeom prst="rect">
            <a:avLst/>
          </a:prstGeom>
          <a:solidFill>
            <a:srgbClr val="E8F0FE"/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2608" y="3595092"/>
            <a:ext cx="171450" cy="17145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7284058" y="3602236"/>
            <a:ext cx="628734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</a:t>
            </a:r>
            <a:endParaRPr lang="en-US" sz="1100" dirty="0"/>
          </a:p>
        </p:txBody>
      </p:sp>
      <p:sp>
        <p:nvSpPr>
          <p:cNvPr id="50" name="Shape 35"/>
          <p:cNvSpPr/>
          <p:nvPr/>
        </p:nvSpPr>
        <p:spPr>
          <a:xfrm>
            <a:off x="575072" y="3930848"/>
            <a:ext cx="2398151" cy="480417"/>
          </a:xfrm>
          <a:prstGeom prst="rect">
            <a:avLst/>
          </a:prstGeom>
          <a:solidFill>
            <a:srgbClr val="F0F4F8"/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575072" y="3930848"/>
            <a:ext cx="2398151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Optimized</a:t>
            </a:r>
            <a:endParaRPr lang="en-US" sz="11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8202" y="4077295"/>
            <a:ext cx="107156" cy="17145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3805358" y="4084439"/>
            <a:ext cx="24459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5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38822" y="4077295"/>
            <a:ext cx="107156" cy="17145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5545978" y="4084439"/>
            <a:ext cx="24459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50" dirty="0"/>
          </a:p>
        </p:txBody>
      </p:sp>
      <p:sp>
        <p:nvSpPr>
          <p:cNvPr id="56" name="Shape 39"/>
          <p:cNvSpPr/>
          <p:nvPr/>
        </p:nvSpPr>
        <p:spPr>
          <a:xfrm>
            <a:off x="6451978" y="3930848"/>
            <a:ext cx="2116950" cy="480417"/>
          </a:xfrm>
          <a:prstGeom prst="rect">
            <a:avLst/>
          </a:prstGeom>
          <a:solidFill>
            <a:srgbClr val="E8F0FE"/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73705" y="4077295"/>
            <a:ext cx="171450" cy="17145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7445155" y="4084439"/>
            <a:ext cx="311814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59" name="Text 41"/>
          <p:cNvSpPr/>
          <p:nvPr/>
        </p:nvSpPr>
        <p:spPr>
          <a:xfrm>
            <a:off x="8724751" y="4854178"/>
            <a:ext cx="13349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16086"/>
            <a:ext cx="287647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INSTITUTE OF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54659"/>
            <a:ext cx="2571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5831" y="1537692"/>
            <a:ext cx="1041871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4538"/>
            <a:ext cx="142875" cy="1785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1531" y="2014538"/>
            <a:ext cx="3457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the root cause of procrastination: task complexity.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37439"/>
            <a:ext cx="142875" cy="1785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1531" y="2637439"/>
            <a:ext cx="3457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student productivity and mental well-being.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60341"/>
            <a:ext cx="142875" cy="17859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1531" y="3260341"/>
            <a:ext cx="3457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 scalable framework for granular task management.</a:t>
            </a:r>
            <a:endParaRPr lang="en-US" sz="1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894" y="1554659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00650" y="1537692"/>
            <a:ext cx="134202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894" y="2014538"/>
            <a:ext cx="125016" cy="17859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97066" y="2014538"/>
            <a:ext cx="310677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automated task decomposition.</a:t>
            </a:r>
            <a:endParaRPr lang="en-US" sz="12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894" y="2397426"/>
            <a:ext cx="125016" cy="17859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97066" y="2397426"/>
            <a:ext cx="347543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Google Calendar and Outlook.</a:t>
            </a:r>
            <a:endParaRPr lang="en-US" sz="12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894" y="3020327"/>
            <a:ext cx="125016" cy="17859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097066" y="3020327"/>
            <a:ext cx="335139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application for on-the-go productivity.</a:t>
            </a:r>
            <a:endParaRPr lang="en-US" sz="1250" dirty="0"/>
          </a:p>
        </p:txBody>
      </p:sp>
      <p:sp>
        <p:nvSpPr>
          <p:cNvPr id="22" name="Text 11"/>
          <p:cNvSpPr/>
          <p:nvPr/>
        </p:nvSpPr>
        <p:spPr>
          <a:xfrm>
            <a:off x="0" y="4341614"/>
            <a:ext cx="914400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"Big things are often just a collection of small things done well."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8715208" y="4854178"/>
            <a:ext cx="1430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2026-05-03T16:28:04Z</dcterms:created>
  <dcterms:modified xsi:type="dcterms:W3CDTF">2026-05-03T16:28:04Z</dcterms:modified>
</cp:coreProperties>
</file>